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采购与合同管理办法（示例）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本文件为开源项目演示而虚构，不对应任何真实组织、制度或供应商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采购流程示意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691640"/>
            <a:ext cx="13716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提交采购申请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61488" y="1691640"/>
            <a:ext cx="13716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预算校验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56048" y="1691640"/>
            <a:ext cx="13716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分级审批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50608" y="1691640"/>
            <a:ext cx="13716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询比价 / 招标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429000"/>
            <a:ext cx="13716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合同签订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61488" y="3429000"/>
            <a:ext cx="13716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到货验收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56048" y="3429000"/>
            <a:ext cx="13716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发票校验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0608" y="3429000"/>
            <a:ext cx="13716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资金支付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38528" y="2103120"/>
            <a:ext cx="822960" cy="0"/>
          </a:xfrm>
          <a:prstGeom prst="line">
            <a:avLst/>
          </a:prstGeom>
          <a:ln w="19050">
            <a:solidFill>
              <a:srgbClr val="55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33088" y="2103120"/>
            <a:ext cx="822960" cy="0"/>
          </a:xfrm>
          <a:prstGeom prst="line">
            <a:avLst/>
          </a:prstGeom>
          <a:ln w="19050">
            <a:solidFill>
              <a:srgbClr val="55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327648" y="2103120"/>
            <a:ext cx="822960" cy="0"/>
          </a:xfrm>
          <a:prstGeom prst="line">
            <a:avLst/>
          </a:prstGeom>
          <a:ln w="19050">
            <a:solidFill>
              <a:srgbClr val="55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252728" y="2514600"/>
            <a:ext cx="6583680" cy="1325880"/>
          </a:xfrm>
          <a:prstGeom prst="bentConnector3">
            <a:avLst/>
          </a:prstGeom>
          <a:ln w="19050">
            <a:solidFill>
              <a:srgbClr val="55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38528" y="3840480"/>
            <a:ext cx="822960" cy="0"/>
          </a:xfrm>
          <a:prstGeom prst="line">
            <a:avLst/>
          </a:prstGeom>
          <a:ln w="19050">
            <a:solidFill>
              <a:srgbClr val="55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133088" y="3840480"/>
            <a:ext cx="822960" cy="0"/>
          </a:xfrm>
          <a:prstGeom prst="line">
            <a:avLst/>
          </a:prstGeom>
          <a:ln w="19050">
            <a:solidFill>
              <a:srgbClr val="55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327648" y="3840480"/>
            <a:ext cx="822960" cy="0"/>
          </a:xfrm>
          <a:prstGeom prst="line">
            <a:avLst/>
          </a:prstGeom>
          <a:ln w="19050">
            <a:solidFill>
              <a:srgbClr val="55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审批权限矩阵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21792">
                <a:tc>
                  <a:txBody>
                    <a:bodyPr/>
                    <a:lstStyle/>
                    <a:p>
                      <a:r>
                        <a:t>金额区间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审批人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是否集体决策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附加要求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t>50 万元以下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部门负责人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至少两家报价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t>50 万元至 200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分管负责人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至少三家报价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t>200 万元至 500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总经理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是（采购决策会）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需法务出具意见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t>500 万元以上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董事会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是（董事会决议）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需第三方评估报告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三个关键控制点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预算校验：无预算或超预算先走调整程序</a:t>
            </a:r>
          </a:p>
          <a:p>
            <a:pPr/>
            <a:r>
              <a:t>分级审批：按金额区间确定审批层级，不得拆分</a:t>
            </a:r>
          </a:p>
          <a:p>
            <a:pPr/>
            <a:r>
              <a:t>发票校验：采购申请、验收单、发票三单匹配</a:t>
            </a:r>
          </a:p>
          <a:p>
            <a:pPr/>
            <a:r>
              <a:t>任一控制点未通过，流程退回申请环节重新提交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